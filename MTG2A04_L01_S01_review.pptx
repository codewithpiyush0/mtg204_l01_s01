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8572500" cx="15240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XPSI4psdhVULjSXXCutRdAUje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Screen 1 landing. No animation embedded.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5" name="Google Shape;2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4" name="Google Shape;32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Price tag par amount likha hua hona chahiye. No item name</a:t>
            </a:r>
            <a:endParaRPr sz="1200"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0" name="Google Shape;44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will not exist in master game level. </a:t>
            </a:r>
            <a:br>
              <a:rPr lang="en-US"/>
            </a:br>
            <a:br>
              <a:rPr lang="en-US"/>
            </a:br>
            <a:endParaRPr sz="1200"/>
          </a:p>
        </p:txBody>
      </p:sp>
      <p:sp>
        <p:nvSpPr>
          <p:cNvPr id="491" name="Google Shape;49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5" name="Google Shape;54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5" name="Google Shape;59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40a2651138c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40a2651138c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40a2651138c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40a2651138c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40a2651138c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40a2651138c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8" name="Google Shape;65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bd382e48f_0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fbd382e48f_0_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Oops! Too less. Add more. </a:t>
            </a:r>
            <a:br>
              <a:rPr lang="en-US"/>
            </a:br>
            <a:r>
              <a:rPr lang="en-US"/>
              <a:t>Oops! Too less.</a:t>
            </a:r>
            <a:endParaRPr/>
          </a:p>
        </p:txBody>
      </p:sp>
      <p:sp>
        <p:nvSpPr>
          <p:cNvPr id="710" name="Google Shape;710;g3fbd382e48f_0_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fbd382e48f_0_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fbd382e48f_0_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fbd382e48f_0_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fbd382e48f_0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fbd382e48f_0_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fbd382e48f_0_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bd382e48f_0_1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bd382e48f_0_1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fbd382e48f_0_1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40a2651138c_0_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40a2651138c_0_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40a2651138c_0_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bd382e48f_0_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fbd382e48f_0_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fbd382e48f_0_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 · 01_landing.png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216" y="819150"/>
            <a:ext cx="10374618" cy="583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11544300" y="12382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563350" y="1543050"/>
            <a:ext cx="3333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Play the VO: 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नमस्ते दोस्त! मैं हूँ स्विफ्टी|</a:t>
            </a:r>
            <a:r>
              <a:rPr b="0" lang="en-US" sz="12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lang="en-US" sz="13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परी के स्कूल में पिकनिक होने वाली है। उसे पिकनिक के लिए कुछ सामान खरीदना है। चलिए, उसकी मदद करते हैं!”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2 · 02_recall_transition.png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2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2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2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2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2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2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2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2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2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2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2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2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2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2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2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2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2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2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2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2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2333625" y="1809750"/>
            <a:ext cx="685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क्या आप ₹10 और ₹1 को पहचानते हैं?</a:t>
            </a:r>
            <a:endParaRPr/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036" y="3714750"/>
            <a:ext cx="1959429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870345"/>
            <a:ext cx="1238250" cy="54606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1544300" y="12382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1563350" y="15430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“बाज़ार जाने से पहले, आइए पहचानते हैं कि ₹10 और ₹1 कैसे दिखते हैं।”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11544300" y="220980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Motion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1563350" y="251460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₹10 note और ₹1 coin हल्के pop के साथ दिखाई दें</a:t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1658600" y="3857625"/>
            <a:ext cx="30669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Char char="•"/>
            </a:pPr>
            <a:r>
              <a:rPr lang="en-US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Visuals: 10 ka note and one rs coins (back and front, both). Please note that 10rs note will have 000000 as serial number and specimen will be written on the note.</a:t>
            </a:r>
            <a:endParaRPr>
              <a:solidFill>
                <a:srgbClr val="1B2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Char char="•"/>
            </a:pPr>
            <a:r>
              <a:rPr lang="en-US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Swifty will be place of left bottom and buttons will be placed in the centre</a:t>
            </a:r>
            <a:br>
              <a:rPr lang="en-US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3 · 03_identify_10_initial.png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3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3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3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3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3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3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3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3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3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3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476625" y="1428750"/>
            <a:ext cx="4476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₹10 पर टैप कीजिए।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619375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6382" y="3476625"/>
            <a:ext cx="1763486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6191250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0" y="3658842"/>
            <a:ext cx="1333500" cy="58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1544300" y="12382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Interaction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1563350" y="1543050"/>
            <a:ext cx="3067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दोनों cards tappable।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Correct target: ₹10 note।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1544300" y="2062163"/>
            <a:ext cx="3095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No response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1572875" y="2309738"/>
            <a:ext cx="3067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5 sec बाद ₹10 note card pulse करे।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1439525" y="2886075"/>
            <a:ext cx="3067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5080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25">
              <a:solidFill>
                <a:srgbClr val="26344A"/>
              </a:solidFill>
            </a:endParaRPr>
          </a:p>
          <a:p>
            <a:pPr indent="0" lvl="0" marL="0" marR="1524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Entry  Play VO 1: इनमें से दस रुपये का नोट पहचानिए।</a:t>
            </a:r>
            <a:endParaRPr sz="1150">
              <a:solidFill>
                <a:srgbClr val="0B0B0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25">
              <a:solidFill>
                <a:srgbClr val="26344A"/>
              </a:solidFill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572875" y="3409950"/>
            <a:ext cx="2737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Correct — ₹10 note tapped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Animation: ₹10 note glows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Instruction: शाबाश! यह दस रुपये का नोट है।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VO 2: शाबाश! यह दस रुपये का नोट है।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1572875" y="4246900"/>
            <a:ext cx="25146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Incorrect — ₹1 coin tapped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Animation: ₹1 coin vibrates + red error; ₹10 note appears centre screen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Instruction: यह दस रुपये का नोट है।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VO 3:  यह दस रुपये का नोट है।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4 · 04_identify_10_correct.png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4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4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4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4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4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4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4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4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4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4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4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4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4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4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4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4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4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4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4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4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476625" y="1428750"/>
            <a:ext cx="4476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₹10 पर टैप कीजिए।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619375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E8FFF0"/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6382" y="3476625"/>
            <a:ext cx="1763486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6191250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0" y="3658842"/>
            <a:ext cx="1333500" cy="58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/>
          <p:nvPr/>
        </p:nvSpPr>
        <p:spPr>
          <a:xfrm>
            <a:off x="3057513" y="5634025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शाबाश! यही दस रुपये का नोट है।</a:t>
            </a:r>
            <a:br>
              <a:rPr lang="en-US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69" name="Google Shape;169;p4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1585600" y="1411075"/>
            <a:ext cx="3034200" cy="4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Correct State — ₹10 note tapped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Animation: ₹10 note turns green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On-screen text: शाबाश! यही दस रुपये का नोट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VO: शाबाश! यही दस रुपये का नोट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Effects: Chime + confetti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Visuals note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Character: Swifty upar hogi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All currency (notes + coins): "000" printed on them + "SPECIMEN" written clearly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This stays consistent across every screen in the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5 · 05_identify_1_initial.png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5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5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5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5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5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5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5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5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5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5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5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5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5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5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5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5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5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5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5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5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5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5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5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5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5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476625" y="1428750"/>
            <a:ext cx="4476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 पर टैप कीजिए।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2619375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0" y="3645753"/>
            <a:ext cx="1428750" cy="70949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6191250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3685465"/>
            <a:ext cx="1428750" cy="63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11638650" y="1432275"/>
            <a:ext cx="2857500" cy="6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Entry VO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इनमें से एक रुपये का सिक्का कौन सा है?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Correct — ₹1 coin tapped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Animation: ₹1 coin box turns green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On-screen text: शाबाश! यह एक रुपये का सिक्का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VO: शाबाश! यह एक रुपये का सिक्का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Effects: Chime + confetti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Incorrect :  ₹10 note tapped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Animation: ₹10 note turns red + error sound; ₹1 coins appear centre screen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Swifty says —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On-screen text: यह एक रुपये का सिक्का है। एक ka sikka  ऐसा दिखता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VO: यह एक रुपये का सिक्का है। </a:t>
            </a:r>
            <a:r>
              <a:rPr lang="en-US" sz="1100">
                <a:solidFill>
                  <a:schemeClr val="dk1"/>
                </a:solidFill>
              </a:rPr>
              <a:t>एक ka sikka  ऐसा दिखता है।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Visuals note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Swifty visible bottom-left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All currency: "000" + "SPECIMEN" printed — same across full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6 · 06_identify_1_correct.png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6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6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6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6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6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6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6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6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6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6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6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6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6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6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6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6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6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6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6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6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6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6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6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6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6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6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476625" y="1428750"/>
            <a:ext cx="4476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 पर टैप कीजिए।</a:t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2619375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0" y="3645753"/>
            <a:ext cx="1428750" cy="70949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6191250" y="2857500"/>
            <a:ext cx="2857500" cy="2381250"/>
          </a:xfrm>
          <a:prstGeom prst="roundRect">
            <a:avLst>
              <a:gd fmla="val 4800" name="adj"/>
            </a:avLst>
          </a:prstGeom>
          <a:solidFill>
            <a:srgbClr val="E8FFF0"/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3685465"/>
            <a:ext cx="1428750" cy="63007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"/>
          <p:cNvSpPr/>
          <p:nvPr/>
        </p:nvSpPr>
        <p:spPr>
          <a:xfrm>
            <a:off x="3143250" y="5572125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सही! यही ₹1 का सिक्का है।</a:t>
            </a:r>
            <a:endParaRPr/>
          </a:p>
        </p:txBody>
      </p:sp>
      <p:pic>
        <p:nvPicPr>
          <p:cNvPr id="266" name="Google Shape;266;p6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11572875" y="1486375"/>
            <a:ext cx="3000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Correct — ₹1 coin tapped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Animation: ₹1 coin box turns green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On-screen text: शाबाश! यह एक रुपये का सिक्का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VO: शाबाश! यह एक रुपये का सिक्का है।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Effects: Chime + confetti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7 · 07_market_transition.png [</a:t>
            </a:r>
            <a:r>
              <a:rPr b="1" lang="en-US" sz="1350">
                <a:solidFill>
                  <a:srgbClr val="FFB414"/>
                </a:solidFill>
                <a:latin typeface="Arial"/>
                <a:ea typeface="Arial"/>
                <a:cs typeface="Arial"/>
                <a:sym typeface="Arial"/>
              </a:rPr>
              <a:t>swifty second transition after this slide]</a:t>
            </a:r>
            <a:endParaRPr>
              <a:solidFill>
                <a:srgbClr val="FFB414"/>
              </a:solidFill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7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7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7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7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7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7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7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7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7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7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7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7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7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7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7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7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7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7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7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7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7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7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7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7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2524125" y="1619250"/>
            <a:ext cx="6572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अब परी के साथ बाज़ार चलिए।</a:t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3905250" y="2857500"/>
            <a:ext cx="3714750" cy="2381250"/>
          </a:xfrm>
          <a:prstGeom prst="roundRect">
            <a:avLst>
              <a:gd fmla="val 7200" name="adj"/>
            </a:avLst>
          </a:prstGeom>
          <a:solidFill>
            <a:srgbClr val="FFF8E7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4953000" y="3028950"/>
            <a:ext cx="1619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परी</a:t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4476750" y="3714750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खरीदारी की सूची</a:t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4333875" y="423862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कॉपी  •  चिप्स  •  चॉकलेट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प्लेटें  •  टॉफ़ी</a:t>
            </a:r>
            <a:endParaRPr/>
          </a:p>
        </p:txBody>
      </p:sp>
      <p:pic>
        <p:nvPicPr>
          <p:cNvPr id="314" name="Google Shape;314;p7"/>
          <p:cNvPicPr preferRelativeResize="0"/>
          <p:nvPr/>
        </p:nvPicPr>
        <p:blipFill rotWithShape="1">
          <a:blip r:embed="rId3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7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11393600" y="7643813"/>
            <a:ext cx="3067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अगली slide में सूची पर zoom।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11572875" y="1200150"/>
            <a:ext cx="24720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Swifty Transition Screen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Visuals: </a:t>
            </a:r>
            <a:r>
              <a:rPr lang="en-US" sz="1125">
                <a:solidFill>
                  <a:srgbClr val="26344A"/>
                </a:solidFill>
              </a:rPr>
              <a:t>परी बीच में सूची पकड़े।</a:t>
            </a:r>
            <a:r>
              <a:rPr lang="en-US"/>
              <a:t> </a:t>
            </a:r>
            <a:r>
              <a:rPr lang="en-US" sz="1125">
                <a:solidFill>
                  <a:srgbClr val="26344A"/>
                </a:solidFill>
              </a:rPr>
              <a:t>इस slide पर सूची पूरी readable न हो।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VO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25">
                <a:solidFill>
                  <a:srgbClr val="26344A"/>
                </a:solidFill>
              </a:rPr>
              <a:t>“परी अपनी खरीदारी की सूची लेकर बाज़ार पहुँच गई है। आइए देखें, उसे क्या-क्या खरीदना है।”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8 · 08_shopping_list.png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11477625" y="495300"/>
            <a:ext cx="3333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1334750" y="1066800"/>
            <a:ext cx="3524250" cy="702945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8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8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8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8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8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8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8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8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8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8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8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8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8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8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8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8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8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8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8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8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8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8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8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8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8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8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8"/>
          <p:cNvSpPr/>
          <p:nvPr/>
        </p:nvSpPr>
        <p:spPr>
          <a:xfrm>
            <a:off x="876300" y="1238250"/>
            <a:ext cx="958230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3190875" y="138112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परी की सूची</a:t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3143250" y="2190750"/>
            <a:ext cx="5143500" cy="6858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3476625" y="22860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कॉपी</a:t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6667500" y="2286000"/>
            <a:ext cx="123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₹14</a:t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3143250" y="3028950"/>
            <a:ext cx="5143500" cy="6858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3476625" y="31242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चिप्स</a:t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6667500" y="3124200"/>
            <a:ext cx="123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₹20</a:t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3143250" y="3867150"/>
            <a:ext cx="5143500" cy="6858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3476625" y="39624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चॉकलेट</a:t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6667500" y="3962400"/>
            <a:ext cx="123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₹25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3143250" y="4705350"/>
            <a:ext cx="5143500" cy="6858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3476625" y="48006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प्लेटों का पैकेट</a:t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6667500" y="4800600"/>
            <a:ext cx="123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950">
                <a:solidFill>
                  <a:srgbClr val="12377A"/>
                </a:solidFill>
              </a:rPr>
              <a:t>35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143250" y="5543550"/>
            <a:ext cx="5143500" cy="6858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3476625" y="56388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टॉफ़ी</a:t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6667500" y="5638800"/>
            <a:ext cx="1238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₹5</a:t>
            </a:r>
            <a:endParaRPr/>
          </a:p>
        </p:txBody>
      </p:sp>
      <p:pic>
        <p:nvPicPr>
          <p:cNvPr id="374" name="Google Shape;374;p8"/>
          <p:cNvPicPr preferRelativeResize="0"/>
          <p:nvPr/>
        </p:nvPicPr>
        <p:blipFill rotWithShape="1">
          <a:blip r:embed="rId3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8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11544300" y="12382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11544300" y="220980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Motion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11563350" y="251460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26344A"/>
                </a:solidFill>
              </a:rPr>
              <a:t>As Vo of different items will come, the items will slightly pulsate and move onto the next item</a:t>
            </a:r>
            <a:endParaRPr sz="1125">
              <a:solidFill>
                <a:srgbClr val="26344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26344A"/>
              </a:solidFill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11544300" y="31813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Transition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11563350" y="34861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Arrow tap पर Guided teaching।</a:t>
            </a:r>
            <a:endParaRPr/>
          </a:p>
        </p:txBody>
      </p:sp>
      <p:sp>
        <p:nvSpPr>
          <p:cNvPr id="384" name="Google Shape;384;p8"/>
          <p:cNvSpPr txBox="1"/>
          <p:nvPr/>
        </p:nvSpPr>
        <p:spPr>
          <a:xfrm>
            <a:off x="11663363" y="1485900"/>
            <a:ext cx="285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परी को कॉपी, चिप्स, चॉकलेट, प्लेटें और टॉफ़ी खरीदनी हैं। चलो, ₹10 और ₹1 से हर चीज़ की राशि बनाते हैं।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9 · </a:t>
            </a:r>
            <a:r>
              <a:rPr b="1" lang="en-US" sz="1350">
                <a:solidFill>
                  <a:srgbClr val="12377A"/>
                </a:solidFill>
              </a:rPr>
              <a:t>teach</a:t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11477475" y="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342900" y="628650"/>
            <a:ext cx="1076340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11391900" y="409575"/>
            <a:ext cx="3524400" cy="702960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533400" y="819150"/>
            <a:ext cx="1038240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5" name="Google Shape;395;p9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9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9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9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9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9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9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9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9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9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9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9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9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9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9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9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9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9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9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9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9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9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9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9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9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9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9"/>
          <p:cNvSpPr/>
          <p:nvPr/>
        </p:nvSpPr>
        <p:spPr>
          <a:xfrm>
            <a:off x="933450" y="1295400"/>
            <a:ext cx="958230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4095750" y="1466850"/>
            <a:ext cx="3238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₹14 बनाइए</a:t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3667125" y="2143125"/>
            <a:ext cx="4000500" cy="2857500"/>
          </a:xfrm>
          <a:prstGeom prst="roundRect">
            <a:avLst>
              <a:gd fmla="val 4667" name="adj"/>
            </a:avLst>
          </a:prstGeom>
          <a:solidFill>
            <a:srgbClr val="F9FC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5333925" y="2266938"/>
            <a:ext cx="2190900" cy="457200"/>
          </a:xfrm>
          <a:prstGeom prst="rect">
            <a:avLst/>
          </a:prstGeom>
          <a:solidFill>
            <a:srgbClr val="DD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कुल ₹10</a:t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2857500" y="5924550"/>
            <a:ext cx="5524500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1285875" y="1905000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कॉपी[photo]</a:t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1762125" y="2571750"/>
            <a:ext cx="1047750" cy="523875"/>
          </a:xfrm>
          <a:prstGeom prst="rect">
            <a:avLst/>
          </a:prstGeom>
          <a:solidFill>
            <a:srgbClr val="FFB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₹14</a:t>
            </a:r>
            <a:endParaRPr/>
          </a:p>
        </p:txBody>
      </p:sp>
      <p:pic>
        <p:nvPicPr>
          <p:cNvPr id="428" name="Google Shape;4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6646" y="3143250"/>
            <a:ext cx="1861457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9"/>
          <p:cNvPicPr preferRelativeResize="0"/>
          <p:nvPr/>
        </p:nvPicPr>
        <p:blipFill rotWithShape="1">
          <a:blip r:embed="rId4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9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pic>
        <p:nvPicPr>
          <p:cNvPr id="434" name="Google Shape;4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7267" y="6143625"/>
            <a:ext cx="901346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9"/>
          <p:cNvPicPr preferRelativeResize="0"/>
          <p:nvPr/>
        </p:nvPicPr>
        <p:blipFill rotWithShape="1">
          <a:blip r:embed="rId5">
            <a:alphaModFix/>
          </a:blip>
          <a:srcRect b="0" l="0" r="50271" t="0"/>
          <a:stretch/>
        </p:blipFill>
        <p:spPr>
          <a:xfrm>
            <a:off x="6038250" y="5991225"/>
            <a:ext cx="724500" cy="6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9"/>
          <p:cNvSpPr txBox="1"/>
          <p:nvPr/>
        </p:nvSpPr>
        <p:spPr>
          <a:xfrm>
            <a:off x="11572875" y="571500"/>
            <a:ext cx="3238500" cy="30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Screen heading (OST):</a:t>
            </a:r>
            <a:r>
              <a:rPr lang="en-US" sz="1200">
                <a:solidFill>
                  <a:schemeClr val="dk1"/>
                </a:solidFill>
              </a:rPr>
              <a:t> ₹14 बनाइए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Item shown:</a:t>
            </a:r>
            <a:r>
              <a:rPr lang="en-US" sz="1200">
                <a:solidFill>
                  <a:schemeClr val="dk1"/>
                </a:solidFill>
              </a:rPr>
              <a:t> कॉपी(notebook image) — ₹14[on a price tag]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Bottom tray:</a:t>
            </a:r>
            <a:r>
              <a:rPr lang="en-US" sz="1200">
                <a:solidFill>
                  <a:schemeClr val="dk1"/>
                </a:solidFill>
              </a:rPr>
              <a:t> ₹10 note, ₹1 coins (multiple)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Target area:</a:t>
            </a:r>
            <a:r>
              <a:rPr lang="en-US" sz="1200">
                <a:solidFill>
                  <a:schemeClr val="dk1"/>
                </a:solidFill>
              </a:rPr>
              <a:t> Empty tray in centre. कुल ₹0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1 — Swifty demonstrates ₹10 note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1: "सबसे पहले परी को ₹14 की कॉपी लेनी है। आइए, ₹10 और ₹1 से ₹14 बनाते हैं।"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2: "पहले ₹10 का एक नोट rakhte hain।"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Motion: ₹10 note moves from bottom tray into the target tray on its own (demonstration). Running total updates to कुल ₹10.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Interaction: यह demonstration state है। Child watches.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2 — Swifty explains what is left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3: "अभी कुल ₹10 हुए। ₹14 बनाने के लिए अभी ₹4 और चाहिए।" [we will pulsate the counter]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3 — Swiftee places first ₹1 coin (demonstration)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4: "अब एक-एक रुपए के सिक्के रखेंगे। Motion: One ₹1 coin moves into the tray on its own. Running total updates to कुल ₹11.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Interaction: Still demonstration. Child watches.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4 — Swiftee hands over to the child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5: "चलो, अब तुम रखो।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Motion: ₹1 coin in the bottom tray pulses gently.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Interaction: Child drags ₹1 coin into the tray.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If child does not act: ₹1 coin pulses again. Swifty repeats: "सिक्के को ऊपर ट्रे में रखो।"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5 — Child places third ₹1 coin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6: "अब एक रुपए का और सिक्का रखो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Interaction: Child drags ₹1 coin into the tray. Running total updates to कुल ₹13. 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6 — Child places fourth ₹1 coin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7: "आखिरी सिक्का।"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Interaction: Child drags ₹1 coin into the tray. Running total updates to कुल ₹14. Positive audio.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7 — Completion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8: "shabaash! एक ₹10 का नोट और चार ₹1 के सिक्के — कुल मिलाकर बने ₹14। 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अब परी कॉपी खरीद सकती है।"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OST (in green, centre): ₹10 + ₹1 + ₹1 + ₹1 + ₹1 = ₹14 Running total shows कुल ₹14 in green. Tray highlights — ₹10 note and four ₹1 coins visible together.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Motion: Green confetti. कॉपी moves or highlights to show purchase done. Arrow appears for next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11 · </a:t>
            </a:r>
            <a:r>
              <a:rPr b="1" lang="en-US" sz="1350">
                <a:solidFill>
                  <a:srgbClr val="12377A"/>
                </a:solidFill>
              </a:rPr>
              <a:t>teach</a:t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11473050" y="13335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11391900" y="571500"/>
            <a:ext cx="3524400" cy="702960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7" name="Google Shape;447;p11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1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1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1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11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1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1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11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11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11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1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1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1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1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11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11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1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1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1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1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1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1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1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1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1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1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1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4095750" y="1466850"/>
            <a:ext cx="3238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₹20 बनाइए</a:t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3667125" y="2143125"/>
            <a:ext cx="4000500" cy="2857500"/>
          </a:xfrm>
          <a:prstGeom prst="roundRect">
            <a:avLst>
              <a:gd fmla="val 4667" name="adj"/>
            </a:avLst>
          </a:prstGeom>
          <a:solidFill>
            <a:srgbClr val="F9FC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5148175" y="2366950"/>
            <a:ext cx="2190900" cy="457200"/>
          </a:xfrm>
          <a:prstGeom prst="rect">
            <a:avLst/>
          </a:prstGeom>
          <a:solidFill>
            <a:srgbClr val="DD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कुल ₹0</a:t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2857500" y="5924550"/>
            <a:ext cx="5524500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1285875" y="1905000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चिप्स</a:t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1762125" y="2571750"/>
            <a:ext cx="1047750" cy="523875"/>
          </a:xfrm>
          <a:prstGeom prst="rect">
            <a:avLst/>
          </a:prstGeom>
          <a:solidFill>
            <a:srgbClr val="FFB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₹20</a:t>
            </a:r>
            <a:endParaRPr/>
          </a:p>
        </p:txBody>
      </p:sp>
      <p:pic>
        <p:nvPicPr>
          <p:cNvPr id="480" name="Google Shape;480;p11"/>
          <p:cNvPicPr preferRelativeResize="0"/>
          <p:nvPr/>
        </p:nvPicPr>
        <p:blipFill rotWithShape="1">
          <a:blip r:embed="rId3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1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pic>
        <p:nvPicPr>
          <p:cNvPr id="485" name="Google Shape;485;p11"/>
          <p:cNvPicPr preferRelativeResize="0"/>
          <p:nvPr/>
        </p:nvPicPr>
        <p:blipFill rotWithShape="1">
          <a:blip r:embed="rId4">
            <a:alphaModFix/>
          </a:blip>
          <a:srcRect b="0" l="0" r="46955" t="0"/>
          <a:stretch/>
        </p:blipFill>
        <p:spPr>
          <a:xfrm>
            <a:off x="4095750" y="5973152"/>
            <a:ext cx="686296" cy="64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1"/>
          <p:cNvPicPr preferRelativeResize="0"/>
          <p:nvPr/>
        </p:nvPicPr>
        <p:blipFill rotWithShape="1">
          <a:blip r:embed="rId5">
            <a:alphaModFix/>
          </a:blip>
          <a:srcRect b="0" l="0" r="50271" t="0"/>
          <a:stretch/>
        </p:blipFill>
        <p:spPr>
          <a:xfrm>
            <a:off x="6038250" y="5991225"/>
            <a:ext cx="724500" cy="6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1"/>
          <p:cNvSpPr txBox="1"/>
          <p:nvPr/>
        </p:nvSpPr>
        <p:spPr>
          <a:xfrm>
            <a:off x="11572875" y="680700"/>
            <a:ext cx="30450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Screen heading (OST):</a:t>
            </a:r>
            <a:r>
              <a:rPr lang="en-US" sz="1200">
                <a:solidFill>
                  <a:schemeClr val="dk1"/>
                </a:solidFill>
              </a:rPr>
              <a:t> ₹20 बनाइए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Item shown:</a:t>
            </a:r>
            <a:r>
              <a:rPr lang="en-US" sz="1200">
                <a:solidFill>
                  <a:schemeClr val="dk1"/>
                </a:solidFill>
              </a:rPr>
              <a:t> चिप्स — ₹20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Bottom tray:</a:t>
            </a:r>
            <a:r>
              <a:rPr lang="en-US" sz="1200">
                <a:solidFill>
                  <a:schemeClr val="dk1"/>
                </a:solidFill>
              </a:rPr>
              <a:t> ₹10 coins (multiple), ₹1 coins (visible but not needed)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Target </a:t>
            </a:r>
            <a:r>
              <a:rPr b="1" lang="en-US" sz="1200">
                <a:solidFill>
                  <a:schemeClr val="dk1"/>
                </a:solidFill>
              </a:rPr>
              <a:t>area:</a:t>
            </a:r>
            <a:r>
              <a:rPr lang="en-US" sz="1200">
                <a:solidFill>
                  <a:schemeClr val="dk1"/>
                </a:solidFill>
              </a:rPr>
              <a:t> Empty tray in centre. कुल ₹0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1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VO1 : "अब परी को ₹20 के चिप्स लेने हैं। 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आइए, ₹10 के सिक्कों से ₹20 बनाते हैं।"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OST: ₹20 बनाइए।(when second line in VO comes then this OST will come)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2: </a:t>
            </a:r>
            <a:r>
              <a:rPr b="1" lang="en-US" sz="1200">
                <a:solidFill>
                  <a:schemeClr val="dk1"/>
                </a:solidFill>
              </a:rPr>
              <a:t>Swifty demonstrates first ₹10 coin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VO2: "पहले ₹10 का सिक्का रखते हैं।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Motion: ₹10 coin moves from bottom tray into the target tray on its own. Running total updates to कुल ₹10.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Interaction: Demonstration. Child watches.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Step 3: Swifty hands over to the child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VO3: "अभी कुल ₹10 हुए। ₹20 के लिए ₹10 और चाहिए। चलिए, अब आप रखिए।" [we will pulsate the counter]</a:t>
            </a:r>
            <a:br>
              <a:rPr lang="en-US" sz="1200">
                <a:solidFill>
                  <a:schemeClr val="dk1"/>
                </a:solidFill>
              </a:rPr>
            </a:b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VO4 inactivity: अब तुम एक और ₹10 का सिक्का रखो। 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Motion: ₹10 coin in the bottom tray pulses gently.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Interaction: Child drags ₹10 coin into the tray. Running total updates to कुल ₹20. Positive audio.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If child does not ac</a:t>
            </a:r>
            <a:r>
              <a:rPr lang="en-US" sz="1200">
                <a:solidFill>
                  <a:schemeClr val="dk1"/>
                </a:solidFill>
              </a:rPr>
              <a:t>t: ₹10 coin pulses again. Swifty repeats VO 5: "₹10 का सिक्का ट्रे में रखिए।" OST stays on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If child drags ₹1 coin:</a:t>
            </a:r>
            <a:r>
              <a:rPr lang="en-US" sz="1200">
                <a:solidFill>
                  <a:schemeClr val="dk1"/>
                </a:solidFill>
              </a:rPr>
              <a:t> ₹1 coin returns to the tray. Swifty says VO 6: "₹20 बनाने के लिए ₹10 के सिक्के लगेंगे।" ₹10 coin pulses.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 7: "बहुत अच्छे! दो ₹10 के सिक्के — कुल मिलाकर बने ₹20।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OST (in green, centre): ₹10 + ₹10 = ₹20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Running total shows कुल ₹20 in green. Tray highlights — two ₹10 coins visible together.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Motion: Green confetti. चिप्स moves or highlights. Arrow appears for next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12 · </a:t>
            </a:r>
            <a:r>
              <a:rPr b="1" lang="en-US" sz="1350">
                <a:solidFill>
                  <a:srgbClr val="FF0000"/>
                </a:solidFill>
              </a:rPr>
              <a:t>Guided practice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11430000" y="9525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11344275" y="571500"/>
            <a:ext cx="3524400" cy="702960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8" name="Google Shape;498;p12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2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2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2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2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2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12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12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12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12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12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2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12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12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12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12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2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12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12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12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12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2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2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12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12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12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2"/>
          <p:cNvSpPr/>
          <p:nvPr/>
        </p:nvSpPr>
        <p:spPr>
          <a:xfrm>
            <a:off x="1037350" y="1576388"/>
            <a:ext cx="958230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576638" y="1766888"/>
            <a:ext cx="4000500" cy="2857500"/>
          </a:xfrm>
          <a:prstGeom prst="roundRect">
            <a:avLst>
              <a:gd fmla="val 4667" name="adj"/>
            </a:avLst>
          </a:prstGeom>
          <a:solidFill>
            <a:srgbClr val="F9FC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6386588" y="1933609"/>
            <a:ext cx="1047600" cy="523800"/>
          </a:xfrm>
          <a:prstGeom prst="rect">
            <a:avLst/>
          </a:prstGeom>
          <a:solidFill>
            <a:srgbClr val="DD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कुल ₹2</a:t>
            </a:r>
            <a:r>
              <a:rPr b="1" lang="en-US" sz="1875">
                <a:solidFill>
                  <a:srgbClr val="12377A"/>
                </a:solidFill>
              </a:rPr>
              <a:t>2</a:t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2814638" y="4939788"/>
            <a:ext cx="5524500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1190625" y="1905000"/>
            <a:ext cx="2190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चॉकलेट</a:t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1762125" y="2571750"/>
            <a:ext cx="1047750" cy="523875"/>
          </a:xfrm>
          <a:prstGeom prst="rect">
            <a:avLst/>
          </a:prstGeom>
          <a:solidFill>
            <a:srgbClr val="FFB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₹25</a:t>
            </a:r>
            <a:endParaRPr/>
          </a:p>
        </p:txBody>
      </p:sp>
      <p:pic>
        <p:nvPicPr>
          <p:cNvPr id="530" name="Google Shape;530;p12"/>
          <p:cNvPicPr preferRelativeResize="0"/>
          <p:nvPr/>
        </p:nvPicPr>
        <p:blipFill rotWithShape="1">
          <a:blip r:embed="rId3">
            <a:alphaModFix/>
          </a:blip>
          <a:srcRect b="0" l="0" r="46955" t="0"/>
          <a:stretch/>
        </p:blipFill>
        <p:spPr>
          <a:xfrm>
            <a:off x="4095750" y="2990338"/>
            <a:ext cx="581025" cy="5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12"/>
          <p:cNvPicPr preferRelativeResize="0"/>
          <p:nvPr/>
        </p:nvPicPr>
        <p:blipFill rotWithShape="1">
          <a:blip r:embed="rId4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2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36" name="Google Shape;536;p12"/>
          <p:cNvSpPr txBox="1"/>
          <p:nvPr/>
        </p:nvSpPr>
        <p:spPr>
          <a:xfrm>
            <a:off x="11511350" y="742675"/>
            <a:ext cx="3333900" cy="6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"परी को ₹25 की चॉकलेट लेनी है। ₹10 और ₹1 के सिक्कों से ₹25 बनाइए।" [price tag will pulse]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Child Action:</a:t>
            </a:r>
            <a:r>
              <a:rPr lang="en-US" sz="1200">
                <a:solidFill>
                  <a:schemeClr val="dk1"/>
                </a:solidFill>
              </a:rPr>
              <a:t> Child drags and drops coins one by one into the tray.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On each correct drop:</a:t>
            </a:r>
            <a:r>
              <a:rPr lang="en-US" sz="1200">
                <a:solidFill>
                  <a:schemeClr val="dk1"/>
                </a:solidFill>
              </a:rPr>
              <a:t> Coin stays in tray. Running total updates (कुल ₹10… ₹20… ₹21… ₹22… ₹23… ₹24… ₹25). Positive VO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Inactivity:</a:t>
            </a:r>
            <a:r>
              <a:rPr lang="en-US" sz="1200">
                <a:solidFill>
                  <a:schemeClr val="dk1"/>
                </a:solidFill>
              </a:rPr>
              <a:t> Coins in bottom tray pulse gently. On second pause, ghost image of next currency going to the tray।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Wrong placement — ₹10 coin after कुल ₹20 (₹5 और चाहिए):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Attempt 1:</a:t>
            </a:r>
            <a:r>
              <a:rPr lang="en-US" sz="1200">
                <a:solidFill>
                  <a:schemeClr val="dk1"/>
                </a:solidFill>
              </a:rPr>
              <a:t> ₹10 coin bounces back. Gentle buzz.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Attempt 2:</a:t>
            </a:r>
            <a:r>
              <a:rPr lang="en-US" sz="1200">
                <a:solidFill>
                  <a:schemeClr val="dk1"/>
                </a:solidFill>
              </a:rPr>
              <a:t> ₹10 coin bounces back. VO: "कुल ₹20 हुए। ₹25 बनाने के लिए ₹5 और चाहिए। (1 coins ghost nudging)  </a:t>
            </a:r>
            <a:r>
              <a:rPr b="1" lang="en-US" sz="1200">
                <a:solidFill>
                  <a:schemeClr val="dk1"/>
                </a:solidFill>
              </a:rPr>
              <a:t>Attempt 3:</a:t>
            </a:r>
            <a:r>
              <a:rPr lang="en-US" sz="1200">
                <a:solidFill>
                  <a:schemeClr val="dk1"/>
                </a:solidFill>
              </a:rPr>
              <a:t> ₹10 coin bounces back. VO: "₹5 बनाने के लिए ₹1 के सिक्कों का इस्तेमाल कीजिए।" ₹1 coin glows. ₹10 coin fades.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After completing ₹25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As soon as running total hits कुल ₹25: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Running total turns green immediately.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All coins in the bottom tray go inactive.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If child tries to drag any coin after ₹25 is made, coin bounces back.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Replace instruction OST with:</a:t>
            </a:r>
            <a:r>
              <a:rPr lang="en-US" sz="1200">
                <a:solidFill>
                  <a:schemeClr val="dk1"/>
                </a:solidFill>
              </a:rPr>
              <a:t> ₹10 + ₹10 + ₹1 + ₹1 + ₹1 + ₹1 + ₹1 = ₹25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"शाबाश! दो ₹10 के सिक्के और पाँच ₹1 के सिक्के — कुल मिलाकर बने ₹25। Green confetti. चॉकलेट highlights. Arrow appears for next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537" name="Google Shape;537;p12"/>
          <p:cNvPicPr preferRelativeResize="0"/>
          <p:nvPr/>
        </p:nvPicPr>
        <p:blipFill rotWithShape="1">
          <a:blip r:embed="rId3">
            <a:alphaModFix/>
          </a:blip>
          <a:srcRect b="0" l="0" r="46955" t="0"/>
          <a:stretch/>
        </p:blipFill>
        <p:spPr>
          <a:xfrm>
            <a:off x="4833938" y="2990350"/>
            <a:ext cx="581025" cy="5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12"/>
          <p:cNvPicPr preferRelativeResize="0"/>
          <p:nvPr/>
        </p:nvPicPr>
        <p:blipFill rotWithShape="1">
          <a:blip r:embed="rId3">
            <a:alphaModFix/>
          </a:blip>
          <a:srcRect b="0" l="0" r="46955" t="0"/>
          <a:stretch/>
        </p:blipFill>
        <p:spPr>
          <a:xfrm>
            <a:off x="4095738" y="4969163"/>
            <a:ext cx="581025" cy="5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12"/>
          <p:cNvPicPr preferRelativeResize="0"/>
          <p:nvPr/>
        </p:nvPicPr>
        <p:blipFill rotWithShape="1">
          <a:blip r:embed="rId5">
            <a:alphaModFix/>
          </a:blip>
          <a:srcRect b="0" l="0" r="50271" t="0"/>
          <a:stretch/>
        </p:blipFill>
        <p:spPr>
          <a:xfrm>
            <a:off x="5660975" y="2941075"/>
            <a:ext cx="724500" cy="64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12"/>
          <p:cNvPicPr preferRelativeResize="0"/>
          <p:nvPr/>
        </p:nvPicPr>
        <p:blipFill rotWithShape="1">
          <a:blip r:embed="rId5">
            <a:alphaModFix/>
          </a:blip>
          <a:srcRect b="0" l="0" r="50271" t="0"/>
          <a:stretch/>
        </p:blipFill>
        <p:spPr>
          <a:xfrm>
            <a:off x="6464800" y="2990350"/>
            <a:ext cx="724500" cy="64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2"/>
          <p:cNvPicPr preferRelativeResize="0"/>
          <p:nvPr/>
        </p:nvPicPr>
        <p:blipFill rotWithShape="1">
          <a:blip r:embed="rId5">
            <a:alphaModFix/>
          </a:blip>
          <a:srcRect b="0" l="0" r="50271" t="0"/>
          <a:stretch/>
        </p:blipFill>
        <p:spPr>
          <a:xfrm>
            <a:off x="5964400" y="5037650"/>
            <a:ext cx="724500" cy="6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13 · 13_practice_make_22.png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11430000" y="9525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11344275" y="533550"/>
            <a:ext cx="3524400" cy="7029600"/>
          </a:xfrm>
          <a:prstGeom prst="roundRect">
            <a:avLst>
              <a:gd fmla="val 6516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2" name="Google Shape;552;p13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13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13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13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13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13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13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13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13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13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13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3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13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13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13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13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3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13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13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3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13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13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13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13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13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13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13"/>
          <p:cNvSpPr/>
          <p:nvPr/>
        </p:nvSpPr>
        <p:spPr>
          <a:xfrm>
            <a:off x="1246400" y="785813"/>
            <a:ext cx="958230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3667125" y="1581825"/>
            <a:ext cx="4581600" cy="3418800"/>
          </a:xfrm>
          <a:prstGeom prst="roundRect">
            <a:avLst>
              <a:gd fmla="val 4667" name="adj"/>
            </a:avLst>
          </a:prstGeom>
          <a:solidFill>
            <a:srgbClr val="F9FC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6713038" y="1748000"/>
            <a:ext cx="1396800" cy="362100"/>
          </a:xfrm>
          <a:prstGeom prst="rect">
            <a:avLst/>
          </a:prstGeom>
          <a:solidFill>
            <a:srgbClr val="DD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कुल ₹0</a:t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3148013" y="5081575"/>
            <a:ext cx="5524500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"/>
          <p:cNvSpPr/>
          <p:nvPr/>
        </p:nvSpPr>
        <p:spPr>
          <a:xfrm>
            <a:off x="1047750" y="1809750"/>
            <a:ext cx="2476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प्लेटों का पैकेट</a:t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1866900" y="2381250"/>
            <a:ext cx="1047900" cy="523800"/>
          </a:xfrm>
          <a:prstGeom prst="rect">
            <a:avLst/>
          </a:prstGeom>
          <a:solidFill>
            <a:srgbClr val="FFB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2250">
                <a:solidFill>
                  <a:srgbClr val="FFFFFF"/>
                </a:solidFill>
              </a:rPr>
              <a:t>35</a:t>
            </a:r>
            <a:endParaRPr/>
          </a:p>
        </p:txBody>
      </p:sp>
      <p:pic>
        <p:nvPicPr>
          <p:cNvPr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900" y="5195888"/>
            <a:ext cx="13716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5378046"/>
            <a:ext cx="685800" cy="30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13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3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DADDE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91" name="Google Shape;591;p13"/>
          <p:cNvSpPr txBox="1"/>
          <p:nvPr/>
        </p:nvSpPr>
        <p:spPr>
          <a:xfrm>
            <a:off x="11391900" y="628650"/>
            <a:ext cx="33339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"परी को ₹35 का </a:t>
            </a:r>
            <a:r>
              <a:rPr lang="en-US" sz="1200">
                <a:solidFill>
                  <a:schemeClr val="dk1"/>
                </a:solidFill>
              </a:rPr>
              <a:t>प्लेटों का पैकेट</a:t>
            </a:r>
            <a:r>
              <a:rPr lang="en-US" sz="5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लेना है। ₹10 के नोट और ₹1 के सिक्कों से ₹35 बनाइए।"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Item shown: </a:t>
            </a:r>
            <a:r>
              <a:rPr lang="en-US" sz="1200">
                <a:solidFill>
                  <a:schemeClr val="dk1"/>
                </a:solidFill>
              </a:rPr>
              <a:t>प्लेटों का पैकेट</a:t>
            </a:r>
            <a:r>
              <a:rPr lang="en-US" sz="1200">
                <a:solidFill>
                  <a:schemeClr val="dk1"/>
                </a:solidFill>
              </a:rPr>
              <a:t> — ₹35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Bottom tray:</a:t>
            </a:r>
            <a:r>
              <a:rPr lang="en-US" sz="1200">
                <a:solidFill>
                  <a:schemeClr val="dk1"/>
                </a:solidFill>
              </a:rPr>
              <a:t> ₹10 notes, ₹1 coins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Target area:</a:t>
            </a:r>
            <a:r>
              <a:rPr lang="en-US" sz="1200">
                <a:solidFill>
                  <a:schemeClr val="dk1"/>
                </a:solidFill>
              </a:rPr>
              <a:t> Empty tray in centre. कुल ₹0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Child Action:</a:t>
            </a:r>
            <a:r>
              <a:rPr lang="en-US" sz="1200">
                <a:solidFill>
                  <a:schemeClr val="dk1"/>
                </a:solidFill>
              </a:rPr>
              <a:t> Child drags and drops notes and coins one by one into the tray.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On each correct drop:</a:t>
            </a:r>
            <a:r>
              <a:rPr lang="en-US" sz="1200">
                <a:solidFill>
                  <a:schemeClr val="dk1"/>
                </a:solidFill>
              </a:rPr>
              <a:t> Note/coin stays in tray. Running total updates (कुल ₹10… ₹20… ₹30… ₹31… ₹32… ₹33… ₹34… ₹35). Positive audio.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Inactivity:</a:t>
            </a:r>
            <a:r>
              <a:rPr lang="en-US" sz="1200">
                <a:solidFill>
                  <a:schemeClr val="dk1"/>
                </a:solidFill>
              </a:rPr>
              <a:t> Notes/</a:t>
            </a:r>
            <a:r>
              <a:rPr lang="en-US" sz="1200">
                <a:solidFill>
                  <a:schemeClr val="dk1"/>
                </a:solidFill>
              </a:rPr>
              <a:t>Coins in bottom tray pulse gently. On second pause, ghost image of next currency going to the tray।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Wrong placement — ₹10 note after कुल ₹30 (₹5 और चाहिए):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Attempt 1:</a:t>
            </a:r>
            <a:r>
              <a:rPr lang="en-US" sz="1200">
                <a:solidFill>
                  <a:schemeClr val="dk1"/>
                </a:solidFill>
              </a:rPr>
              <a:t> ₹10 note bounces back. Gentle buzz.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Attempt 2:</a:t>
            </a:r>
            <a:r>
              <a:rPr lang="en-US" sz="1200">
                <a:solidFill>
                  <a:schemeClr val="dk1"/>
                </a:solidFill>
              </a:rPr>
              <a:t> ₹10 note bounces back. VO: "</a:t>
            </a:r>
            <a:r>
              <a:rPr lang="en-US" sz="1200">
                <a:solidFill>
                  <a:srgbClr val="0D0D0D"/>
                </a:solidFill>
                <a:highlight>
                  <a:srgbClr val="FCFCFC"/>
                </a:highlight>
              </a:rPr>
              <a:t>कुल ₹30 हुए। ₹35 के लिए ₹5 और चाहिए। 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 [next currency will automatically be shown as ghost image going into the amount tray]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Attempt 3:</a:t>
            </a:r>
            <a:r>
              <a:rPr lang="en-US" sz="1200">
                <a:solidFill>
                  <a:schemeClr val="dk1"/>
                </a:solidFill>
              </a:rPr>
              <a:t> ₹10 note bounces back. VO: "₹5 बनाने के लिए ₹1 के सिक्कों का इस्तेमाल कीजिए।" ₹1 coin glows. ₹10 note fades.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</a:rPr>
              <a:t>**</a:t>
            </a:r>
            <a:r>
              <a:rPr b="1" lang="en-US" sz="1200">
                <a:solidFill>
                  <a:srgbClr val="FF0000"/>
                </a:solidFill>
              </a:rPr>
              <a:t>Wrong placement — ₹1 coin in the beginning (before placing any ₹10 note):</a:t>
            </a:r>
            <a:r>
              <a:rPr lang="en-US" sz="1200">
                <a:solidFill>
                  <a:srgbClr val="FF0000"/>
                </a:solidFill>
              </a:rPr>
              <a:t>This is not incorrect — any valid path to ₹35 is accepted. Running total updates accordingly. Child continues.</a:t>
            </a:r>
            <a:br>
              <a:rPr lang="en-US" sz="1200">
                <a:solidFill>
                  <a:srgbClr val="FF0000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After completing ₹35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As soon as running total hits कुल ₹35: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Running total turns green immediately.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All notes and coins in the bottom tray go inactive.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If child tries to drag any note or coin after ₹35 is made, it bounces back.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Replace instruction OST with:</a:t>
            </a:r>
            <a:r>
              <a:rPr lang="en-US" sz="1200">
                <a:solidFill>
                  <a:schemeClr val="dk1"/>
                </a:solidFill>
              </a:rPr>
              <a:t> ₹10 + ₹10 + ₹10 + ₹1 + ₹1 + ₹1 + ₹1 + ₹1 = ₹35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"शाबाश! तीन ₹10 के नोट और पाँच ₹1 के सिक्के — कुल मिलाकर बने ₹35। अब परी पेंसिल बॉक्स खरीद सकती है।"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Green confetti. पेंसिल बॉक्स highlights. Arrow appears for next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6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16 · 16_mastery_round.png</a:t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11430000" y="9525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11391900" y="571500"/>
            <a:ext cx="3726600" cy="767700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2" name="Google Shape;602;p16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6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6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6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6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6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6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6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6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6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16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16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16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16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16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16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16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16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16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16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16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16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16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16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6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6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8" name="Google Shape;628;p16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3667125" y="2143125"/>
            <a:ext cx="4000500" cy="2857500"/>
          </a:xfrm>
          <a:prstGeom prst="roundRect">
            <a:avLst>
              <a:gd fmla="val 4667" name="adj"/>
            </a:avLst>
          </a:prstGeom>
          <a:solidFill>
            <a:srgbClr val="F9FC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4572000" y="5124450"/>
            <a:ext cx="2190750" cy="457200"/>
          </a:xfrm>
          <a:prstGeom prst="rect">
            <a:avLst/>
          </a:prstGeom>
          <a:solidFill>
            <a:srgbClr val="DD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कुल ₹0</a:t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2857500" y="5924550"/>
            <a:ext cx="5524500" cy="838200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6"/>
          <p:cNvSpPr/>
          <p:nvPr/>
        </p:nvSpPr>
        <p:spPr>
          <a:xfrm>
            <a:off x="1285875" y="1905000"/>
            <a:ext cx="2000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जूस</a:t>
            </a: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1762125" y="2571750"/>
            <a:ext cx="1047750" cy="523875"/>
          </a:xfrm>
          <a:prstGeom prst="rect">
            <a:avLst/>
          </a:prstGeom>
          <a:solidFill>
            <a:srgbClr val="FFB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₹17</a:t>
            </a:r>
            <a:endParaRPr/>
          </a:p>
        </p:txBody>
      </p:sp>
      <p:pic>
        <p:nvPicPr>
          <p:cNvPr id="634" name="Google Shape;6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450" y="6000750"/>
            <a:ext cx="13716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0" y="6163858"/>
            <a:ext cx="685800" cy="30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16"/>
          <p:cNvPicPr preferRelativeResize="0"/>
          <p:nvPr/>
        </p:nvPicPr>
        <p:blipFill rotWithShape="1">
          <a:blip r:embed="rId5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6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8572500" y="6191250"/>
            <a:ext cx="1428750" cy="552450"/>
          </a:xfrm>
          <a:prstGeom prst="roundRect">
            <a:avLst>
              <a:gd fmla="val 20690" name="adj"/>
            </a:avLst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8810625" y="62865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हो गया</a:t>
            </a:r>
            <a:endParaRPr/>
          </a:p>
        </p:txBody>
      </p:sp>
      <p:sp>
        <p:nvSpPr>
          <p:cNvPr id="641" name="Google Shape;641;p16"/>
          <p:cNvSpPr txBox="1"/>
          <p:nvPr/>
        </p:nvSpPr>
        <p:spPr>
          <a:xfrm>
            <a:off x="11681100" y="816925"/>
            <a:ext cx="3023700" cy="6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 txBox="1"/>
          <p:nvPr/>
        </p:nvSpPr>
        <p:spPr>
          <a:xfrm>
            <a:off x="11564375" y="816925"/>
            <a:ext cx="3352500" cy="7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"परी को ₹17 का जूस पैकेट लेना है। ₹10 के नोट और ₹1 के सिक्कों से ₹17 बनाइए।"[price tag will glow]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Item shown:</a:t>
            </a:r>
            <a:r>
              <a:rPr lang="en-US" sz="1200">
                <a:solidFill>
                  <a:schemeClr val="dk1"/>
                </a:solidFill>
              </a:rPr>
              <a:t> जूस पैकेट — ₹17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Bottom tray:</a:t>
            </a:r>
            <a:r>
              <a:rPr lang="en-US" sz="1200">
                <a:solidFill>
                  <a:schemeClr val="dk1"/>
                </a:solidFill>
              </a:rPr>
              <a:t> ₹10 notes, ₹1 coins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Target area:</a:t>
            </a:r>
            <a:r>
              <a:rPr lang="en-US" sz="1200">
                <a:solidFill>
                  <a:schemeClr val="dk1"/>
                </a:solidFill>
              </a:rPr>
              <a:t> Empty tray in centre. कुल ₹0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Child Action:</a:t>
            </a:r>
            <a:r>
              <a:rPr lang="en-US" sz="1200">
                <a:solidFill>
                  <a:schemeClr val="dk1"/>
                </a:solidFill>
              </a:rPr>
              <a:t> Child drags and drops notes and coins one by one into the tray.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On each correct drop:</a:t>
            </a:r>
            <a:r>
              <a:rPr lang="en-US" sz="1200">
                <a:solidFill>
                  <a:schemeClr val="dk1"/>
                </a:solidFill>
              </a:rPr>
              <a:t> Note/coin stays in tray. Running total updates. Positive audio.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Inactivity: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Notes/Coins in bottom tray pulse gently. On second pause, ghost image of next currency going to the tray।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Expected path:</a:t>
            </a:r>
            <a:r>
              <a:rPr lang="en-US" sz="1200">
                <a:solidFill>
                  <a:schemeClr val="dk1"/>
                </a:solidFill>
              </a:rPr>
              <a:t> ₹10 note → seven ₹1 coins = ₹17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If child starts with ₹1 coins first:</a:t>
            </a:r>
            <a:r>
              <a:rPr lang="en-US" sz="1200">
                <a:solidFill>
                  <a:schemeClr val="dk1"/>
                </a:solidFill>
              </a:rPr>
              <a:t> Accepted. Running total updates (कुल ₹1… ₹2… etc.). But ₹1 coin tolerance applies (see note below).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Wrong placement — ₹10 note after कुल ₹10 (₹7 और चाहिए):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Attempt 1:</a:t>
            </a:r>
            <a:r>
              <a:rPr lang="en-US" sz="1200">
                <a:solidFill>
                  <a:schemeClr val="dk1"/>
                </a:solidFill>
              </a:rPr>
              <a:t> ₹10 note bounces back. Gentle buzz.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Attempt 2:</a:t>
            </a:r>
            <a:r>
              <a:rPr lang="en-US" sz="1200">
                <a:solidFill>
                  <a:schemeClr val="dk1"/>
                </a:solidFill>
              </a:rPr>
              <a:t> ₹10 note bounces back. VO: "कुल ₹10 हुए। ₹17 के लिए ₹7 और चाहिए। " </a:t>
            </a:r>
            <a:r>
              <a:rPr lang="en-US" sz="1200">
                <a:solidFill>
                  <a:schemeClr val="dk1"/>
                </a:solidFill>
              </a:rPr>
              <a:t> [next currency will automatically be shown as ghost image going into the amount tray]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Attempt 3:</a:t>
            </a:r>
            <a:r>
              <a:rPr lang="en-US" sz="1200">
                <a:solidFill>
                  <a:schemeClr val="dk1"/>
                </a:solidFill>
              </a:rPr>
              <a:t> ₹10 note bounces back. VO: "₹7 बनाने के लिए ₹1 के सिक्कों का इस्तेमाल कीजिए।" ₹1 coin glows. ₹10 note fades.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Wrong placement — any coin or note after कुल ₹17 is reached:</a:t>
            </a:r>
            <a:r>
              <a:rPr lang="en-US" sz="1200">
                <a:solidFill>
                  <a:schemeClr val="dk1"/>
                </a:solidFill>
              </a:rPr>
              <a:t>Coin/note bounces back immediately. Bottom tray goes inactive.</a:t>
            </a:r>
            <a:br>
              <a:rPr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After completing ₹17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As soon as running total hits कुल ₹17: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Running total turns green immediately.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All notes and coins in the bottom tray go inactive.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If child tries to drag anything, it bounces back.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Replace instruction OST with:</a:t>
            </a:r>
            <a:r>
              <a:rPr lang="en-US" sz="1200">
                <a:solidFill>
                  <a:schemeClr val="dk1"/>
                </a:solidFill>
              </a:rPr>
              <a:t> ₹10 + ₹1 + ₹1 + ₹1 + ₹1 + ₹1 + ₹1 + ₹1 = ₹17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VO:</a:t>
            </a:r>
            <a:r>
              <a:rPr lang="en-US" sz="1200">
                <a:solidFill>
                  <a:schemeClr val="dk1"/>
                </a:solidFill>
              </a:rPr>
              <a:t> "शाबाश! एक ₹10 का नोट और सात ₹1 के सिक्के — कुल मिलाकर बने ₹17। अब परी जूस पैकेट खरीद सकती है।"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Green confetti. जूस पैकेट highlights. Arrow appears for next screen.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40a2651138c_0_19"/>
          <p:cNvSpPr txBox="1"/>
          <p:nvPr/>
        </p:nvSpPr>
        <p:spPr>
          <a:xfrm>
            <a:off x="0" y="0"/>
            <a:ext cx="9407100" cy="24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</a:t>
            </a:r>
            <a:r>
              <a:rPr lang="en-US"/>
              <a:t>f the child starts placing ₹1 coins before using ₹10 notes, the system should allow only as many ₹1 coins as the ones-part of the target amount. For ₹17, the ones-part is 7, so up to 7 ₹1 coins are accepted first. After 7 ₹1 coins, the ₹1 coin should bounce back so the child is guided toward using the ₹10 note for the remaining ₹10.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tolerance applies across all amounts in the file: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₹14 → tolerance of 4 ₹1 coins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₹25 → tolerance of 5 ₹1 coins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₹35 → tolerance of 5 ₹1 coins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₹17 → tolerance of 7 ₹1 coins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a2651138c_0_5"/>
          <p:cNvSpPr txBox="1"/>
          <p:nvPr/>
        </p:nvSpPr>
        <p:spPr>
          <a:xfrm>
            <a:off x="263675" y="145300"/>
            <a:ext cx="123663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When child starts with ₹1 coins and hits the tolerance limit — feedback to switch to ₹10 note. </a:t>
            </a:r>
            <a:r>
              <a:rPr lang="en-US" sz="1300">
                <a:solidFill>
                  <a:schemeClr val="dk1"/>
                </a:solidFill>
              </a:rPr>
              <a:t>This applies across all amounts.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Generic incorrect attempt 1 feedback :</a:t>
            </a:r>
            <a:r>
              <a:rPr b="1" lang="en-US" sz="1300">
                <a:solidFill>
                  <a:schemeClr val="dk1"/>
                </a:solidFill>
              </a:rPr>
              <a:t>:</a:t>
            </a:r>
            <a:r>
              <a:rPr lang="en-US" sz="1300">
                <a:solidFill>
                  <a:schemeClr val="dk1"/>
                </a:solidFill>
              </a:rPr>
              <a:t> ₹1 coin bounces back. Gentle buzz.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₹25 (tolerance: 5 coins, then two ₹10 coins needed)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Attempt 2 VO: "कुल ₹5 हैं। ₹25 के लिए ₹20 और बनाओ। </a:t>
            </a:r>
            <a:r>
              <a:rPr i="1" lang="en-US" sz="1300">
                <a:solidFill>
                  <a:schemeClr val="dk1"/>
                </a:solidFill>
              </a:rPr>
              <a:t>{Show the next required coin as a ghost image moving into the amount tray. }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Attempt 3 VO: "₹20 बनाने के लिए ₹10 का सिक्का इस्तेमाल कीजिए।"{one coin rupee will get disabled}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₹35 (tolerance: 5 coins, then three ₹10 notes needed)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Attempt 2 VO: "कुल ₹5 हैं। ₹35 के लिए ₹30 और बनाओ। ।"</a:t>
            </a:r>
            <a:r>
              <a:rPr i="1" lang="en-US" sz="1300">
                <a:solidFill>
                  <a:schemeClr val="dk1"/>
                </a:solidFill>
              </a:rPr>
              <a:t>{Show the next required coin as a ghost image moving into the amount tray. }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Attempt 3 VO: "₹30 बनाने के लिए ₹10 का नोट इस्तेमाल कीजिए।"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₹17 (tolerance: 7 coins, then ₹10 note needed)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Attempt 2 VO: "कुल ₹7 हैं। ₹17 के लिए ₹10 और बनाओ। {</a:t>
            </a:r>
            <a:r>
              <a:rPr i="1" lang="en-US" sz="1300">
                <a:solidFill>
                  <a:schemeClr val="dk1"/>
                </a:solidFill>
              </a:rPr>
              <a:t>Show the next required coin as a ghost image moving into the amount tray. }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Attempt 3 VO: "₹10 बनाने के लिए ₹10 का नोट इस्तेमाल कीजिए।"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FF"/>
                </a:solidFill>
              </a:rPr>
              <a:t>NOTE FOR THE GUIDED PRACTICE </a:t>
            </a:r>
            <a:r>
              <a:rPr b="1" lang="en-US" sz="1100">
                <a:solidFill>
                  <a:schemeClr val="dk1"/>
                </a:solidFill>
              </a:rPr>
              <a:t>: With a check button:</a:t>
            </a:r>
            <a:r>
              <a:rPr lang="en-US" sz="1100">
                <a:solidFill>
                  <a:schemeClr val="dk1"/>
                </a:solidFill>
              </a:rPr>
              <a:t> The child places coins and notes, and when they think the amount is ready, they tap "जमा करें" or "देखिए" or a simple ✓. Now the child is making a decision — I believe this is ₹17, check it. This is closer to the procedural understanding your doc talks about. The child is not just doing, they are also knowing when to stop.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For Grade 2 specifically, I think a check button is worth adding, but only if it is one simple tap — no extra steps. The running total is already on screen, so the child can look at it before tapping. And it opens up one more feedback possibility: if the child taps check when the total is less than the target, you can say "अभी कुल ₹12 हुए हैं। ₹17 के लिए ₹5 और चाहिए। और सिक्के या नोट रखिए।" — which is a much more natural moment to teach than the inactivity trigger.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"over" rule stays the same — if a drop crosses the target, it turns red immediately, no need to wait for a check.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So the check button handles the "under" and "exact" cases, and the red pulsation handles the "over" case.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8"/>
          <p:cNvSpPr/>
          <p:nvPr/>
        </p:nvSpPr>
        <p:spPr>
          <a:xfrm>
            <a:off x="400050" y="171450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Page 18 · 18_completion.png</a:t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11334750" y="49700"/>
            <a:ext cx="3333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342900" y="628650"/>
            <a:ext cx="10763250" cy="7620000"/>
          </a:xfrm>
          <a:prstGeom prst="roundRect">
            <a:avLst>
              <a:gd fmla="val 1500" name="adj"/>
            </a:avLst>
          </a:prstGeom>
          <a:solidFill>
            <a:srgbClr val="FFFFFF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8"/>
          <p:cNvSpPr/>
          <p:nvPr/>
        </p:nvSpPr>
        <p:spPr>
          <a:xfrm>
            <a:off x="11296650" y="533400"/>
            <a:ext cx="3875100" cy="7943700"/>
          </a:xfrm>
          <a:prstGeom prst="roundRect">
            <a:avLst>
              <a:gd fmla="val 3243" name="adj"/>
            </a:avLst>
          </a:prstGeom>
          <a:solidFill>
            <a:srgbClr val="F5F7FA"/>
          </a:solidFill>
          <a:ln cap="flat" cmpd="sng" w="19050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8"/>
          <p:cNvSpPr/>
          <p:nvPr/>
        </p:nvSpPr>
        <p:spPr>
          <a:xfrm>
            <a:off x="533400" y="819150"/>
            <a:ext cx="10382250" cy="7239000"/>
          </a:xfrm>
          <a:prstGeom prst="roundRect">
            <a:avLst>
              <a:gd fmla="val 1579" name="adj"/>
            </a:avLst>
          </a:prstGeom>
          <a:solidFill>
            <a:srgbClr val="EAF7FF"/>
          </a:solidFill>
          <a:ln cap="flat" cmpd="sng" w="19050">
            <a:solidFill>
              <a:srgbClr val="36A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5" name="Google Shape;665;p18"/>
          <p:cNvCxnSpPr/>
          <p:nvPr/>
        </p:nvCxnSpPr>
        <p:spPr>
          <a:xfrm>
            <a:off x="904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18"/>
          <p:cNvCxnSpPr/>
          <p:nvPr/>
        </p:nvCxnSpPr>
        <p:spPr>
          <a:xfrm>
            <a:off x="1571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18"/>
          <p:cNvCxnSpPr/>
          <p:nvPr/>
        </p:nvCxnSpPr>
        <p:spPr>
          <a:xfrm>
            <a:off x="2238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18"/>
          <p:cNvCxnSpPr/>
          <p:nvPr/>
        </p:nvCxnSpPr>
        <p:spPr>
          <a:xfrm>
            <a:off x="2905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p18"/>
          <p:cNvCxnSpPr/>
          <p:nvPr/>
        </p:nvCxnSpPr>
        <p:spPr>
          <a:xfrm>
            <a:off x="3571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18"/>
          <p:cNvCxnSpPr/>
          <p:nvPr/>
        </p:nvCxnSpPr>
        <p:spPr>
          <a:xfrm>
            <a:off x="4238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18"/>
          <p:cNvCxnSpPr/>
          <p:nvPr/>
        </p:nvCxnSpPr>
        <p:spPr>
          <a:xfrm>
            <a:off x="4905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18"/>
          <p:cNvCxnSpPr/>
          <p:nvPr/>
        </p:nvCxnSpPr>
        <p:spPr>
          <a:xfrm>
            <a:off x="5572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18"/>
          <p:cNvCxnSpPr/>
          <p:nvPr/>
        </p:nvCxnSpPr>
        <p:spPr>
          <a:xfrm>
            <a:off x="6238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18"/>
          <p:cNvCxnSpPr/>
          <p:nvPr/>
        </p:nvCxnSpPr>
        <p:spPr>
          <a:xfrm>
            <a:off x="6905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18"/>
          <p:cNvCxnSpPr/>
          <p:nvPr/>
        </p:nvCxnSpPr>
        <p:spPr>
          <a:xfrm>
            <a:off x="7572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18"/>
          <p:cNvCxnSpPr/>
          <p:nvPr/>
        </p:nvCxnSpPr>
        <p:spPr>
          <a:xfrm>
            <a:off x="82391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18"/>
          <p:cNvCxnSpPr/>
          <p:nvPr/>
        </p:nvCxnSpPr>
        <p:spPr>
          <a:xfrm>
            <a:off x="89058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18"/>
          <p:cNvCxnSpPr/>
          <p:nvPr/>
        </p:nvCxnSpPr>
        <p:spPr>
          <a:xfrm>
            <a:off x="957262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18"/>
          <p:cNvCxnSpPr/>
          <p:nvPr/>
        </p:nvCxnSpPr>
        <p:spPr>
          <a:xfrm>
            <a:off x="10239375" y="819150"/>
            <a:ext cx="9525" cy="7239000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18"/>
          <p:cNvCxnSpPr/>
          <p:nvPr/>
        </p:nvCxnSpPr>
        <p:spPr>
          <a:xfrm>
            <a:off x="533400" y="1190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18"/>
          <p:cNvCxnSpPr/>
          <p:nvPr/>
        </p:nvCxnSpPr>
        <p:spPr>
          <a:xfrm>
            <a:off x="533400" y="1857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p18"/>
          <p:cNvCxnSpPr/>
          <p:nvPr/>
        </p:nvCxnSpPr>
        <p:spPr>
          <a:xfrm>
            <a:off x="533400" y="2524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18"/>
          <p:cNvCxnSpPr/>
          <p:nvPr/>
        </p:nvCxnSpPr>
        <p:spPr>
          <a:xfrm>
            <a:off x="533400" y="3190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18"/>
          <p:cNvCxnSpPr/>
          <p:nvPr/>
        </p:nvCxnSpPr>
        <p:spPr>
          <a:xfrm>
            <a:off x="533400" y="3857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18"/>
          <p:cNvCxnSpPr/>
          <p:nvPr/>
        </p:nvCxnSpPr>
        <p:spPr>
          <a:xfrm>
            <a:off x="533400" y="4524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18"/>
          <p:cNvCxnSpPr/>
          <p:nvPr/>
        </p:nvCxnSpPr>
        <p:spPr>
          <a:xfrm>
            <a:off x="533400" y="5191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18"/>
          <p:cNvCxnSpPr/>
          <p:nvPr/>
        </p:nvCxnSpPr>
        <p:spPr>
          <a:xfrm>
            <a:off x="533400" y="58578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18"/>
          <p:cNvCxnSpPr/>
          <p:nvPr/>
        </p:nvCxnSpPr>
        <p:spPr>
          <a:xfrm>
            <a:off x="533400" y="65246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18"/>
          <p:cNvCxnSpPr/>
          <p:nvPr/>
        </p:nvCxnSpPr>
        <p:spPr>
          <a:xfrm>
            <a:off x="533400" y="719137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18"/>
          <p:cNvCxnSpPr/>
          <p:nvPr/>
        </p:nvCxnSpPr>
        <p:spPr>
          <a:xfrm>
            <a:off x="533400" y="7858125"/>
            <a:ext cx="10382250" cy="9525"/>
          </a:xfrm>
          <a:prstGeom prst="straightConnector1">
            <a:avLst/>
          </a:prstGeom>
          <a:noFill/>
          <a:ln cap="flat" cmpd="sng" w="19050">
            <a:solidFill>
              <a:srgbClr val="CFEA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18"/>
          <p:cNvSpPr/>
          <p:nvPr/>
        </p:nvSpPr>
        <p:spPr>
          <a:xfrm>
            <a:off x="933450" y="1295400"/>
            <a:ext cx="9582150" cy="59055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1809750" y="152400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परी की पिकनिक की खरीदारी पूरी हुई!</a:t>
            </a:r>
            <a:endParaRPr/>
          </a:p>
        </p:txBody>
      </p:sp>
      <p:sp>
        <p:nvSpPr>
          <p:cNvPr id="693" name="Google Shape;693;p18"/>
          <p:cNvSpPr/>
          <p:nvPr/>
        </p:nvSpPr>
        <p:spPr>
          <a:xfrm>
            <a:off x="3857625" y="2762250"/>
            <a:ext cx="4000500" cy="2571750"/>
          </a:xfrm>
          <a:prstGeom prst="roundRect">
            <a:avLst>
              <a:gd fmla="val 6667" name="adj"/>
            </a:avLst>
          </a:prstGeom>
          <a:solidFill>
            <a:srgbClr val="FFF8E7"/>
          </a:solidFill>
          <a:ln cap="flat" cmpd="sng" w="19050">
            <a:solidFill>
              <a:srgbClr val="F0A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4619625" y="3190875"/>
            <a:ext cx="2476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✓  कॉपी     ✓  चिप्स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✓  चॉकलेट  ✓  प्लेटें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✓  टॉफ़ी</a:t>
            </a:r>
            <a:endParaRPr/>
          </a:p>
        </p:txBody>
      </p:sp>
      <p:sp>
        <p:nvSpPr>
          <p:cNvPr id="695" name="Google Shape;695;p18"/>
          <p:cNvSpPr/>
          <p:nvPr/>
        </p:nvSpPr>
        <p:spPr>
          <a:xfrm>
            <a:off x="5000625" y="4857750"/>
            <a:ext cx="1619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/>
          </a:p>
        </p:txBody>
      </p:sp>
      <p:pic>
        <p:nvPicPr>
          <p:cNvPr id="696" name="Google Shape;696;p18"/>
          <p:cNvPicPr preferRelativeResize="0"/>
          <p:nvPr/>
        </p:nvPicPr>
        <p:blipFill rotWithShape="1">
          <a:blip r:embed="rId3">
            <a:alphaModFix/>
          </a:blip>
          <a:srcRect b="0" l="8766" r="8766" t="0"/>
          <a:stretch/>
        </p:blipFill>
        <p:spPr>
          <a:xfrm>
            <a:off x="742950" y="6477000"/>
            <a:ext cx="16192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8"/>
          <p:cNvSpPr/>
          <p:nvPr/>
        </p:nvSpPr>
        <p:spPr>
          <a:xfrm>
            <a:off x="2000250" y="7181850"/>
            <a:ext cx="476250" cy="476250"/>
          </a:xfrm>
          <a:prstGeom prst="ellipse">
            <a:avLst/>
          </a:prstGeom>
          <a:solidFill>
            <a:srgbClr val="168F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8"/>
          <p:cNvSpPr/>
          <p:nvPr/>
        </p:nvSpPr>
        <p:spPr>
          <a:xfrm>
            <a:off x="2047875" y="7219950"/>
            <a:ext cx="38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🔊</a:t>
            </a: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9220200" y="6858000"/>
            <a:ext cx="781050" cy="781050"/>
          </a:xfrm>
          <a:prstGeom prst="ellipse">
            <a:avLst/>
          </a:prstGeom>
          <a:solidFill>
            <a:srgbClr val="FFB41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9372600" y="6905625"/>
            <a:ext cx="476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01" name="Google Shape;701;p18"/>
          <p:cNvSpPr/>
          <p:nvPr/>
        </p:nvSpPr>
        <p:spPr>
          <a:xfrm>
            <a:off x="11544300" y="12382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VO</a:t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11563350" y="15430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“शाबाश! आपने ₹10 और ₹1 का उपयोग करके सभी धनराशियाँ बनाईं। परी की पिकनिक की खरीदारी पूरी हुई!”</a:t>
            </a:r>
            <a:endParaRPr/>
          </a:p>
        </p:txBody>
      </p:sp>
      <p:sp>
        <p:nvSpPr>
          <p:cNvPr id="703" name="Google Shape;703;p18"/>
          <p:cNvSpPr/>
          <p:nvPr/>
        </p:nvSpPr>
        <p:spPr>
          <a:xfrm>
            <a:off x="11544300" y="220980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Motion</a:t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11563350" y="2514600"/>
            <a:ext cx="3067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हल्की confetti।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Shopping list के सभी items tick हों।</a:t>
            </a:r>
            <a:endParaRPr/>
          </a:p>
        </p:txBody>
      </p:sp>
      <p:sp>
        <p:nvSpPr>
          <p:cNvPr id="705" name="Google Shape;705;p18"/>
          <p:cNvSpPr/>
          <p:nvPr/>
        </p:nvSpPr>
        <p:spPr>
          <a:xfrm>
            <a:off x="11544300" y="3181350"/>
            <a:ext cx="309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2377A"/>
                </a:solidFill>
                <a:latin typeface="Arial"/>
                <a:ea typeface="Arial"/>
                <a:cs typeface="Arial"/>
                <a:sym typeface="Arial"/>
              </a:rPr>
              <a:t>CTA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11563350" y="3486150"/>
            <a:ext cx="3067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26344A"/>
                </a:solidFill>
                <a:latin typeface="Arial"/>
                <a:ea typeface="Arial"/>
                <a:cs typeface="Arial"/>
                <a:sym typeface="Arial"/>
              </a:rPr>
              <a:t>Arrow से lesson complete / replay routing।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g3fbd382e48f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75" y="197725"/>
            <a:ext cx="13298448" cy="7484349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fbd382e48f_0_67"/>
          <p:cNvSpPr txBox="1"/>
          <p:nvPr/>
        </p:nvSpPr>
        <p:spPr>
          <a:xfrm>
            <a:off x="5563664" y="17300"/>
            <a:ext cx="292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bd382e48f_0_73"/>
          <p:cNvSpPr txBox="1"/>
          <p:nvPr/>
        </p:nvSpPr>
        <p:spPr>
          <a:xfrm>
            <a:off x="354750" y="227400"/>
            <a:ext cx="6164100" cy="8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000FF"/>
                </a:solidFill>
              </a:rPr>
              <a:t>Mastery Game Flow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गेम का उद्देश्य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बच्चा ₹10 के नोट, ₹10 के सिक्के और ₹1 के सिक्के से दी गई राशि बनाएगा।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9900FF"/>
                </a:solidFill>
              </a:rPr>
              <a:t>स्क्रीन 1: खरीदारी शुरू करें</a:t>
            </a:r>
            <a:endParaRPr b="1" sz="1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स्क्रीन पर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परी खाली टोकरी के साथ दिखाई देगी।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दुकान में सभी वस्तुएँ active होंगी।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हर वस्तु के साथ उसकी कीमत लिखी होगी।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वस्तुओं में हल्का-सा idle movement होगा।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OST :</a:t>
            </a:r>
            <a:r>
              <a:rPr b="1" lang="en-US" sz="1100">
                <a:solidFill>
                  <a:schemeClr val="dk1"/>
                </a:solidFill>
              </a:rPr>
              <a:t>कोई वस्तु चुनिए।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VO : </a:t>
            </a:r>
            <a:r>
              <a:rPr lang="en-US" sz="1100">
                <a:solidFill>
                  <a:schemeClr val="dk1"/>
                </a:solidFill>
              </a:rPr>
              <a:t>“कोई वस्तु चुनिए और उसकी राशि बनाइए।”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कोई action न होने पर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5–6 सेकंड बाद किसी वस्तु पर हल्का glow आएगा।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VO दोहराएँ: </a:t>
            </a:r>
            <a:r>
              <a:rPr lang="en-US" sz="1100">
                <a:solidFill>
                  <a:schemeClr val="dk1"/>
                </a:solidFill>
              </a:rPr>
              <a:t>“कोई वस्तु चुनिए।”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20" name="Google Shape;720;g3fbd382e48f_0_73"/>
          <p:cNvSpPr txBox="1"/>
          <p:nvPr/>
        </p:nvSpPr>
        <p:spPr>
          <a:xfrm>
            <a:off x="7177425" y="153950"/>
            <a:ext cx="5022300" cy="78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9900FF"/>
                </a:solidFill>
              </a:rPr>
              <a:t>स्क्रीन 2: वस्तु का चयन</a:t>
            </a:r>
            <a:endParaRPr b="1" sz="1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बच्चा किसी वस्तु पर tap करेगा।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स्क्रीन पर बदलाव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चुनी गई वस्तु shine करेगी।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बाकी वस्तुएँ dull हो जाएँगी।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चुनी गई वस्तु बीच में आएगी।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उसकी कीमत बड़े रूप में दिखाई देगी।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उदाहरण: सेब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OST :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chemeClr val="dk1"/>
                </a:solidFill>
              </a:rPr>
              <a:t>₹14 बनाइए।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VO: </a:t>
            </a:r>
            <a:r>
              <a:rPr lang="en-US" sz="1100">
                <a:solidFill>
                  <a:schemeClr val="dk1"/>
                </a:solidFill>
              </a:rPr>
              <a:t>“सेब की कीमत चौदह रुपये है। चौदह रुपये बनाइए।”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9900FF"/>
                </a:solidFill>
              </a:rPr>
              <a:t>स्क्रीन 3: राशि बनाना</a:t>
            </a:r>
            <a:endParaRPr b="1" sz="1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Currency Tray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का नोट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का सिक्का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 का सिक्का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Interaction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बच्चा किसी भी currency से शुरुआत कर सकता है।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Currency को tap या drag किया जा सकता है।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चुने गए पैसे amount area में दिखाई देंगे।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बच्चा रखे हुए पैसे पर tap करके उसे वापस कर सकता है।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Undo button भी उपलब्ध रहेगा।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Button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जाँचें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जब तक बच्चा कम-से-कम एक currency नहीं रखता, </a:t>
            </a:r>
            <a:r>
              <a:rPr b="1" lang="en-US" sz="1100">
                <a:solidFill>
                  <a:schemeClr val="dk1"/>
                </a:solidFill>
              </a:rPr>
              <a:t>जाँचें</a:t>
            </a:r>
            <a:r>
              <a:rPr lang="en-US" sz="1100">
                <a:solidFill>
                  <a:schemeClr val="dk1"/>
                </a:solidFill>
              </a:rPr>
              <a:t> button inactive रहेगा।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bd382e48f_0_92"/>
          <p:cNvSpPr txBox="1"/>
          <p:nvPr/>
        </p:nvSpPr>
        <p:spPr>
          <a:xfrm>
            <a:off x="2222500" y="1717375"/>
            <a:ext cx="4387200" cy="50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उत्तर जाँचने का Flow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9900FF"/>
                </a:solidFill>
              </a:rPr>
              <a:t>स्थिति 1: बनाई गई राशि कम है</a:t>
            </a:r>
            <a:endParaRPr b="1" sz="1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उदाहरण: लक्ष्य ₹25 है और बच्चे ने ₹20 बनाए।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बच्चा </a:t>
            </a:r>
            <a:r>
              <a:rPr b="1" lang="en-US" sz="1100">
                <a:solidFill>
                  <a:schemeClr val="dk1"/>
                </a:solidFill>
              </a:rPr>
              <a:t>जाँचें</a:t>
            </a:r>
            <a:r>
              <a:rPr lang="en-US" sz="1100">
                <a:solidFill>
                  <a:schemeClr val="dk1"/>
                </a:solidFill>
              </a:rPr>
              <a:t> दबाता है।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System 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Amount area हल्का shake करेगा।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Soft error sound बजेगा।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रखे हुए सभी पैसे tray में वापस चले जाएँगे।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Amount area फिर से खाली हो जाएगा।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Incorrect attempt count में 1 जुड़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OST :</a:t>
            </a:r>
            <a:r>
              <a:rPr b="1" lang="en-US" sz="1100">
                <a:solidFill>
                  <a:schemeClr val="dk1"/>
                </a:solidFill>
              </a:rPr>
              <a:t>ओह! रुपये कम हैं।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chemeClr val="dk1"/>
                </a:solidFill>
              </a:rPr>
              <a:t>फिर से बनाइए।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VO :</a:t>
            </a:r>
            <a:r>
              <a:rPr lang="en-US" sz="1100">
                <a:solidFill>
                  <a:schemeClr val="dk1"/>
                </a:solidFill>
              </a:rPr>
              <a:t>“ओह! रुपये कम हैं। फिर से बनाइए।”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bd382e48f_0_92"/>
          <p:cNvSpPr txBox="1"/>
          <p:nvPr/>
        </p:nvSpPr>
        <p:spPr>
          <a:xfrm>
            <a:off x="5960350" y="1803975"/>
            <a:ext cx="4228500" cy="47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9900FF"/>
                </a:solidFill>
              </a:rPr>
              <a:t>स्थिति 2: बनाई गई राशि अधिक है</a:t>
            </a:r>
            <a:endParaRPr b="1" sz="17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उदाहरण: लक्ष्य ₹25 है और बच्चे ने ₹30 बनाए।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बच्चा </a:t>
            </a:r>
            <a:r>
              <a:rPr b="1" lang="en-US" sz="1100">
                <a:solidFill>
                  <a:schemeClr val="dk1"/>
                </a:solidFill>
              </a:rPr>
              <a:t>जाँचें</a:t>
            </a:r>
            <a:r>
              <a:rPr lang="en-US" sz="1100">
                <a:solidFill>
                  <a:schemeClr val="dk1"/>
                </a:solidFill>
              </a:rPr>
              <a:t> दबाता है।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System 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Amount area हल्का shake करेगा।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Soft error sound बजेगा।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रखे हुए सभी पैसे tray में वापस चले जाएँगे।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Amount area फिर से खाली हो जाएगा।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Incorrect attempt count में 1 जुड़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OST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ओह! रुपये ज़्यादा हैं।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chemeClr val="dk1"/>
                </a:solidFill>
              </a:rPr>
              <a:t>फिर से बनाइए।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VO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“ओह! रुपये ज़्यादा हैं। फिर से बनाइए।”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fbd382e48f_0_104"/>
          <p:cNvSpPr txBox="1"/>
          <p:nvPr/>
        </p:nvSpPr>
        <p:spPr>
          <a:xfrm>
            <a:off x="221300" y="254950"/>
            <a:ext cx="5397600" cy="4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पहले तीन गलत प्रयास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पहले तीन incorrect attempts में: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सभी currency options active रहेंगी।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बच्चे को सही combination नहीं बताया जाएगा।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कम या अधिक होने का केवल छोटा feedback मिलेगा।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हर गलत attempt के बाद amount area खाली होगा।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बच्चा राशि फिर से बनाएगा।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34" name="Google Shape;734;g3fbd382e48f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75" y="2665075"/>
            <a:ext cx="6307150" cy="21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g3fbd382e48f_0_104"/>
          <p:cNvSpPr txBox="1"/>
          <p:nvPr/>
        </p:nvSpPr>
        <p:spPr>
          <a:xfrm>
            <a:off x="6672300" y="254950"/>
            <a:ext cx="6176700" cy="4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तीसरे गलत प्रयास के बाद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तीसरे गलत उत्तर के बाद अगला attempt supported होगा।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स्क्रीन का layout नहीं बदलेगा। केवल backend mechanic बदलेगा।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Backend Rule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Target amount के अनुसार currency की सीमा तय होगी।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उदाहरण: </a:t>
            </a:r>
            <a:r>
              <a:rPr b="1" lang="en-US" sz="1100">
                <a:solidFill>
                  <a:schemeClr val="dk1"/>
                </a:solidFill>
              </a:rPr>
              <a:t>₹25 = ₹10 की 2 currency + ₹1 के 5 सिक्के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अब बच्चा: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की अधिकतम 2 currency रख सकता है।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 के अधिकतम 5 सिक्के रख सकता है।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के नोट और ₹10 के सिक्के का count साथ में लिया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40a2651138c_0_57"/>
          <p:cNvSpPr txBox="1"/>
          <p:nvPr/>
        </p:nvSpPr>
        <p:spPr>
          <a:xfrm>
            <a:off x="0" y="0"/>
            <a:ext cx="12560400" cy="19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₹25 का उदाहरण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बच्चा इनमें से कोई भी combination बना सकता है: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के 2 नोट + ₹1 के 5 सिक्के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के 2 सिक्के + ₹1 के 5 सिक्के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का 1 नोट + ₹10 का 1 सिक्का + ₹1 के 5 सिक्के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तीनों उत्तर सही होंगे।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Currency Deactivation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यदि बच्चे ने ₹1 के 5 सिक्के रख दिए: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 का सिक्का inactive हो जाएगा।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बच्चा छठा ₹1 का सिक्का नहीं रख सकेगा।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का नोट और सिक्का active रहेंगे।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यदि बच्चे ने ₹10 की 2 currency रख दीं: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₹10 का नोट और ₹10 का सिक्का inactive हो जाएँगे।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₹1 का सिक्का active रहेगा।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Extra currency चुनने पर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Currency amount area में नहीं जाएगी।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वह हल्का bounce करके tray में लौटेगी।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कोई verbal hint नहीं दिया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Undo करने पर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यदि बच्चा कोई पैसा वापस करता है, तो उसका currency option फिर से active हो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सही उत्तर का Flow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पहली Practice में Detailed Feedback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जब बच्चा सही राशि बनाकर </a:t>
            </a:r>
            <a:r>
              <a:rPr b="1" lang="en-US" sz="1100">
                <a:solidFill>
                  <a:schemeClr val="dk1"/>
                </a:solidFill>
              </a:rPr>
              <a:t>जाँचें</a:t>
            </a:r>
            <a:r>
              <a:rPr lang="en-US" sz="1100">
                <a:solidFill>
                  <a:schemeClr val="dk1"/>
                </a:solidFill>
              </a:rPr>
              <a:t> दबाए: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रखे हुए पैसे green glow करेंगे।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सही उत्तर का sound बजेगा।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इस्तेमाल की गई currency हल्के क्रम से highlight होगी।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₹25 का उदाहरण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यदि बच्चे ने ₹10 के 2 नोट और ₹1 के 5 सिक्के इस्तेमाल किए: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OST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बहुत बढ़िया!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chemeClr val="dk1"/>
                </a:solidFill>
              </a:rPr>
              <a:t>₹10 के 2 नोट और ₹1 के 5 सिक्के मिलाकर ₹25 बने।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VO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“बहुत बढ़िया! दस रुपये के दो नोट और एक रुपये के पाँच सिक्के मिलाकर पच्चीस रुपये बने।”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Feedback बच्चे द्वारा इस्तेमाल की गई वास्तविक currency के अनुसार बदलेगा।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यदि बच्चे ने एक नोट और एक ₹10 का सिक्का इस्तेमाल किया: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“दस रुपये का एक नोट, दस रुपये का एक सिक्का और एक रुपये के पाँच सिक्के मिलाकर पच्चीस रुपये बने।”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यह detailed feedback केवल पहली practice में आएगा।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बाकी वस्तुओं पर सही उत्तर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अगली वस्तुओं में decomposition दोबारा नहीं समझाया जाएगा।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सही उत्तर पर केवल छोटा और playful feedback आएगा।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सेब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“शाबाश! सेब आपकी टोकरी में आ गया।”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केले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“बहुत बढ़िया! केले आपने खरीद लिए।”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अंगूर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“कमाल! अंगूर अब आपके हैं।”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आम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“वाह! आम आपकी टोकरी में आ गए।”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System 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वस्तु हल्का jump करेगी।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वस्तु basket में चली जाएगी।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Basket counter update होगा।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खरीदी गई वस्तु inactive हो जाएगी।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बाकी वस्तुएँ फिर से active हो जाएँगी।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fbd382e48f_0_58"/>
          <p:cNvSpPr txBox="1"/>
          <p:nvPr/>
        </p:nvSpPr>
        <p:spPr>
          <a:xfrm>
            <a:off x="481100" y="0"/>
            <a:ext cx="13049700" cy="6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Note for developer — ₹1 coin tolerance rule: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Rule: The child can place any coin or note in any order. The system checks after every drop.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1. Total is correct (कुल = target)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Everything in the tray turns green. Tray goes inactive.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VO and completion as per each slide.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2. Total is still less than target (कुल &lt; target)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Coin/note stays in tray. Child continues.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If child stops acting for a few seconds: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VO: "अभी कुल ₹[current] हुए हैं। ₹[remaining] और रखिए।"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OST: ₹[remaining] और रखिए।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3. </a:t>
            </a:r>
            <a:r>
              <a:rPr b="1" lang="en-US" sz="1300">
                <a:solidFill>
                  <a:schemeClr val="dk1"/>
                </a:solidFill>
              </a:rPr>
              <a:t>Total goes over the target (कुल &gt; target)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The coin or note that made the total cross sits in the tray but turns red and pulsates. Child has to tap it to put it back.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Hindi VO for "over" — when the extra item is a ₹10 note: </a:t>
            </a:r>
            <a:r>
              <a:rPr lang="en-US" sz="1300">
                <a:solidFill>
                  <a:schemeClr val="dk1"/>
                </a:solidFill>
              </a:rPr>
              <a:t>VO: "ये ज़्यादा हो गया। ₹[target] बनाने हैं, लेकिन अभी ₹[current wrong total] हो गए। लाल नोट पर टैप करके वापस रखिए।"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Hindi VO for "over" — when the extra item is a ₹1 coin: </a:t>
            </a:r>
            <a:r>
              <a:rPr lang="en-US" sz="1300">
                <a:solidFill>
                  <a:schemeClr val="dk1"/>
                </a:solidFill>
              </a:rPr>
              <a:t>VO: "ये ज़्यादा हो गया। ₹[target] बनाने हैं, लेकिन अभी ₹[current wrong total] हो गए। लाल सिक्के पर टैप करके वापस रखिए।"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After child taps the red item back: </a:t>
            </a:r>
            <a:r>
              <a:rPr lang="en-US" sz="1300">
                <a:solidFill>
                  <a:schemeClr val="dk1"/>
                </a:solidFill>
              </a:rPr>
              <a:t>Item returns to bottom tray. Running total corrects itself. No extra VO. Child continues placing.</a:t>
            </a:r>
            <a:br>
              <a:rPr lang="en-US" sz="1300">
                <a:solidFill>
                  <a:schemeClr val="dk1"/>
                </a:solidFill>
              </a:rPr>
            </a:br>
            <a:br>
              <a:rPr lang="en-US" sz="13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